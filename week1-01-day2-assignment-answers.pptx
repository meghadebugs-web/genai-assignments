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1A73E8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Multimodal Models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Tokenizer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·  OpenAI  ·  OpenRouter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41148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8404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D4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38404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D4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8404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D4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38404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D4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651760" cy="1600200"/>
          </a:xfrm>
          <a:prstGeom prst="rect">
            <a:avLst/>
          </a:prstGeom>
          <a:solidFill>
            <a:srgbClr val="1E2D4E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65176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0" y="10424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10M tokens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353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17B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70078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17B active params, 109B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· 16 experts · multilingual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· tool use · JSON mode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651760" cy="1600200"/>
          </a:xfrm>
          <a:prstGeom prst="rect">
            <a:avLst/>
          </a:prstGeom>
          <a:solidFill>
            <a:srgbClr val="1E2D4E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14400"/>
            <a:ext cx="265176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2412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24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Text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10424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128K tokens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1353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 17B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170078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experts per forward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visual reasoning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· tool use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914400"/>
            <a:ext cx="2651760" cy="1600200"/>
          </a:xfrm>
          <a:prstGeom prst="rect">
            <a:avLst/>
          </a:prstGeom>
          <a:solidFill>
            <a:srgbClr val="1E2D4E"/>
          </a:solidFill>
          <a:ln w="19050">
            <a:solidFill>
              <a:srgbClr val="1A5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14400"/>
            <a:ext cx="2651760" cy="54864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02412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5FAB">
              <a:alpha val="80000"/>
            </a:srgbClr>
          </a:solidFill>
          <a:ln w="12700">
            <a:solidFill>
              <a:srgbClr val="1A5F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024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0" y="10424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128K tokens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1353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 4 12B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70078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multimodal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classification for images &amp; 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697480"/>
            <a:ext cx="2651760" cy="1600200"/>
          </a:xfrm>
          <a:prstGeom prst="rect">
            <a:avLst/>
          </a:prstGeom>
          <a:solidFill>
            <a:srgbClr val="1E2D4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69748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80720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07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45920" y="28254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N/A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3136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 v3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34838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language transcription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on Groq LPU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2697480"/>
            <a:ext cx="2651760" cy="1600200"/>
          </a:xfrm>
          <a:prstGeom prst="rect">
            <a:avLst/>
          </a:prstGeom>
          <a:solidFill>
            <a:srgbClr val="1E2D4E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69748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80720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807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Audio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0" y="28254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N/A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6120" y="3136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Orpheus TTS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46120" y="34838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by Canopy Labs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direction controls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expressiveness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console.groq.com/home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813F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DD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F481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651760" cy="54864"/>
          </a:xfrm>
          <a:prstGeom prst="rect">
            <a:avLst/>
          </a:prstGeom>
          <a:solidFill>
            <a:srgbClr val="F4813F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F4813F">
              <a:alpha val="80000"/>
            </a:srgbClr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0" y="104241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1,050K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335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frontier — unifies Codex+GPT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image inputs · 128K max 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tasks · tool use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E868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14400"/>
            <a:ext cx="2651760" cy="54864"/>
          </a:xfrm>
          <a:prstGeom prst="rect">
            <a:avLst/>
          </a:prstGeom>
          <a:solidFill>
            <a:srgbClr val="E86830"/>
          </a:solidFill>
          <a:ln w="12700">
            <a:solidFill>
              <a:srgbClr val="E868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2412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E86830">
              <a:alpha val="80000"/>
            </a:srgbClr>
          </a:solidFill>
          <a:ln w="12700">
            <a:solidFill>
              <a:srgbClr val="E86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2412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I/O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104241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~32K audio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1335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 1.5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16642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voice model — audio in/out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realtime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 &amp; live conversations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91440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D460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14400"/>
            <a:ext cx="2651760" cy="54864"/>
          </a:xfrm>
          <a:prstGeom prst="rect">
            <a:avLst/>
          </a:prstGeom>
          <a:solidFill>
            <a:srgbClr val="D4601A"/>
          </a:solidFill>
          <a:ln w="12700">
            <a:solidFill>
              <a:srgbClr val="D460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02412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D4601A">
              <a:alpha val="80000"/>
            </a:srgbClr>
          </a:solidFill>
          <a:ln w="12700">
            <a:solidFill>
              <a:srgbClr val="D4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02412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0" y="104241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N/A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1335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 1.5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image generation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inpainting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image pipeline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65176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BF50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651760"/>
            <a:ext cx="2651760" cy="54864"/>
          </a:xfrm>
          <a:prstGeom prst="rect">
            <a:avLst/>
          </a:prstGeom>
          <a:solidFill>
            <a:srgbClr val="BF5012"/>
          </a:solidFill>
          <a:ln w="12700">
            <a:solidFill>
              <a:srgbClr val="BF50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76148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BF5012">
              <a:alpha val="80000"/>
            </a:srgbClr>
          </a:solidFill>
          <a:ln w="12700">
            <a:solidFill>
              <a:srgbClr val="BF5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6148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45920" y="277977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N/A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30723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34015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video generation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audio · text or image 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video pipeline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265176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651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76148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76148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Text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0" y="277977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N/A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6120" y="30723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Transcribe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46120" y="34015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powered by GPT-4o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 — identify each speaker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transcription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0760" y="2651760"/>
            <a:ext cx="265176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265176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276148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76148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98080" y="277977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128K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72200" y="30723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4015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flexible vision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image inputs · function calling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general-purpose workhorse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developers.openai.com/api/docs/models/all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17520" y="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· Context Window · Token Cost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914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(per 1M)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(per 1M)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417320"/>
            <a:ext cx="8686800" cy="987552"/>
          </a:xfrm>
          <a:prstGeom prst="rect">
            <a:avLst/>
          </a:prstGeom>
          <a:solidFill>
            <a:srgbClr val="1E2D4E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17320"/>
            <a:ext cx="64008" cy="987552"/>
          </a:xfrm>
          <a:prstGeom prst="rect">
            <a:avLst/>
          </a:prstGeom>
          <a:solidFill>
            <a:srgbClr val="F4813F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53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frontier model · text + vision · 128K max 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Codex and GPT lines · agentic tasks &amp; tool use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167335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4813F">
              <a:alpha val="75000"/>
            </a:srgbClr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6733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60520" y="15453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1,050,000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1837944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(1.05M tokens)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1618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52360" y="1618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28600" y="2496312"/>
            <a:ext cx="8686800" cy="987552"/>
          </a:xfrm>
          <a:prstGeom prst="rect">
            <a:avLst/>
          </a:prstGeom>
          <a:solidFill>
            <a:srgbClr val="1E2D4E"/>
          </a:solidFill>
          <a:ln w="12700">
            <a:solidFill>
              <a:srgbClr val="D452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496312"/>
            <a:ext cx="64008" cy="987552"/>
          </a:xfrm>
          <a:prstGeom prst="rect">
            <a:avLst/>
          </a:prstGeom>
          <a:solidFill>
            <a:srgbClr val="D4527E"/>
          </a:solidFill>
          <a:ln w="12700">
            <a:solidFill>
              <a:srgbClr val="D452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32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28620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capable Sonnet-class model · coding &amp; agents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performance · 64K max output per response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2752344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D4527E">
              <a:alpha val="75000"/>
            </a:srgbClr>
          </a:solidFill>
          <a:ln w="12700">
            <a:solidFill>
              <a:srgbClr val="D452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27523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60520" y="26243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60520" y="291693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(1M tokens)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9788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5236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28600" y="3575304"/>
            <a:ext cx="8686800" cy="987552"/>
          </a:xfrm>
          <a:prstGeom prst="rect">
            <a:avLst/>
          </a:prstGeom>
          <a:solidFill>
            <a:srgbClr val="1E2D4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575304"/>
            <a:ext cx="64008" cy="9875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17B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39410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MoE · native multimodal (text + image)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Best-value option · huge 10M context window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97480" y="3831336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73E8">
              <a:alpha val="7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8313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(via Groq)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60520" y="3703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160520" y="399592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(10M tokens!)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97880" y="37764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452360" y="37764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Green = Input cost/1M tokens     ● Amber = Output cost/1M tokens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4F6E"/>
          </a:solidFill>
          <a:ln w="12700">
            <a:solidFill>
              <a:srgbClr val="0E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Are Generated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023360" cy="3931920"/>
          </a:xfrm>
          <a:prstGeom prst="rect">
            <a:avLst/>
          </a:prstGeom>
          <a:solidFill>
            <a:srgbClr val="1E2D4E"/>
          </a:solidFill>
          <a:ln w="12700">
            <a:solidFill>
              <a:srgbClr val="0E7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149961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of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characters on average in English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202996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12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"tokenization" = 4 tokens: "token", "iz", "ation"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5603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237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varies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text uses more tokens per word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540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unit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charge per token, not per character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62102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84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803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the model can see in one request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415137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 words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3342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1,000 tokens for typical English 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914400"/>
            <a:ext cx="4480560" cy="3931920"/>
          </a:xfrm>
          <a:prstGeom prst="rect">
            <a:avLst/>
          </a:prstGeom>
          <a:solidFill>
            <a:srgbClr val="1623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How "Hello, World!" tokenizes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1417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71907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A73E8">
              <a:alpha val="8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7190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71907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7190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171907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17190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171907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17190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2148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tokens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2514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17720" y="283464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1A73E8">
              <a:alpha val="7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83464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58968" y="283464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8968" y="283464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0216" y="283464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83464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41464" y="283464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1464" y="283464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982712" y="283464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283464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jumps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17720" y="331012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310128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58968" y="331012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1A73E8">
              <a:alpha val="7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58968" y="3310128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0216" y="331012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0216" y="3310128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lazy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41464" y="331012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1464" y="3310128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17720" y="3886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 tokens  (~1 token ≈ 4 chars)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4206240"/>
            <a:ext cx="4114800" cy="50292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Tokens × (Input Rate or Output Rate)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4F6E"/>
          </a:solidFill>
          <a:ln w="12700">
            <a:solidFill>
              <a:srgbClr val="0E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31920" y="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Prompts · Token Counts via platform.openai.com/tokenizer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51960" cy="2011680"/>
          </a:xfrm>
          <a:prstGeom prst="rect">
            <a:avLst/>
          </a:prstGeom>
          <a:solidFill>
            <a:srgbClr val="1E2D4E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64008" cy="2011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Greeting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A73E8">
              <a:alpha val="9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350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how are you?"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6012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50876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5740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60604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you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5468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English words tokenize efficiently — roughly 1 token per word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4251960" cy="2011680"/>
          </a:xfrm>
          <a:prstGeom prst="rect">
            <a:avLst/>
          </a:prstGeom>
          <a:solidFill>
            <a:srgbClr val="1E2D4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63240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136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315468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tokens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4838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 fibonacci(n): return n if n&lt;=1 else fibonacci(n-1)+fibonacci(n-2)"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6012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fib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50876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5740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0604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5468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0332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9593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 more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114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tokenizes into sub-word units — function names split across multiple tokens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914400"/>
            <a:ext cx="4251960" cy="2011680"/>
          </a:xfrm>
          <a:prstGeom prst="rect">
            <a:avLst/>
          </a:prstGeom>
          <a:solidFill>
            <a:srgbClr val="1E2D4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914400"/>
            <a:ext cx="64008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987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&amp; Symbols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10058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tokens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13350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models cost $0.003 per 1,000 tokens via API."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9204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4068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068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8932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3796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08660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8660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63524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524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183880" y="1792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83880" y="1792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732520" y="18105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89204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punctuation often tokenize individually, increasing count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09160" y="3063240"/>
            <a:ext cx="4251960" cy="2011680"/>
          </a:xfrm>
          <a:prstGeom prst="rect">
            <a:avLst/>
          </a:prstGeom>
          <a:solidFill>
            <a:srgbClr val="1E2D4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09160" y="3063240"/>
            <a:ext cx="64008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92040" y="3136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Non-English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909560" y="315468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956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tokens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92040" y="34838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"नमस्ते, आप कैसे हैं?"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9204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9204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नमस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44068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4068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्ते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98932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8932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53796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3796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आप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08660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8660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क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63524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ैसे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183880" y="3941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83880" y="39410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ह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732520" y="39593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89204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Non-Latin scripts use significantly more tokens — same meaning costs ~4× more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1A"/>
          </a:solidFill>
          <a:ln w="12700">
            <a:solidFill>
              <a:srgbClr val="1A2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CONTEXT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0" y="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D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3 Models Compared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5303520" cy="4023360"/>
          </a:xfrm>
          <a:prstGeom prst="rect">
            <a:avLst/>
          </a:prstGeom>
          <a:solidFill>
            <a:srgbClr val="1E2D4E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Cost (USD per 1M tokens)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4412041"/>
            <a:ext cx="411480" cy="2279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56009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17320" y="4364370"/>
            <a:ext cx="411480" cy="7047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(Anthropic)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3813048"/>
            <a:ext cx="4114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55701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80360" y="1325880"/>
            <a:ext cx="411480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0698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0" y="3916680"/>
            <a:ext cx="411480" cy="518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6606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43400" y="1325880"/>
            <a:ext cx="411480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0698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7240" y="4434840"/>
            <a:ext cx="4526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74320" y="43251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3398520"/>
            <a:ext cx="4526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74320" y="32887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" y="2362200"/>
            <a:ext cx="4526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" y="225247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" y="1325880"/>
            <a:ext cx="4526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12161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617720"/>
            <a:ext cx="201168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61772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868680"/>
            <a:ext cx="3291840" cy="4023360"/>
          </a:xfrm>
          <a:prstGeom prst="rect">
            <a:avLst/>
          </a:prstGeom>
          <a:solidFill>
            <a:srgbClr val="1E2D4E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914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Comparison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1673352"/>
            <a:ext cx="2926080" cy="182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1673352"/>
            <a:ext cx="2926080" cy="182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1874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 tokens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06440" y="20574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06440" y="2313432"/>
            <a:ext cx="292608" cy="182880"/>
          </a:xfrm>
          <a:prstGeom prst="rect">
            <a:avLst/>
          </a:prstGeom>
          <a:solidFill>
            <a:srgbClr val="D4527E"/>
          </a:solidFill>
          <a:ln w="12700">
            <a:solidFill>
              <a:srgbClr val="D452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6440" y="2313432"/>
            <a:ext cx="2926080" cy="182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5146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tokens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06440" y="2697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06440" y="2953512"/>
            <a:ext cx="307238" cy="182880"/>
          </a:xfrm>
          <a:prstGeom prst="rect">
            <a:avLst/>
          </a:prstGeom>
          <a:solidFill>
            <a:srgbClr val="F4813F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2953512"/>
            <a:ext cx="2926080" cy="1828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31546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1,050,000 tokens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0" y="3566160"/>
            <a:ext cx="3291840" cy="114300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06440" y="391363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B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</a:t>
            </a:r>
            <a:pPr indent="0" marL="0">
              <a:buNone/>
            </a:pPr>
            <a:r>
              <a:rPr lang="en-US" sz="9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the largest context (10M) at the lowest cost ($0.11/$0.34), making it ideal for budget-sensitive, long-context tasks.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051560"/>
            <a:ext cx="27432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411480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64008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Multimodal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including Llama 4 Scout/Maverick (vision), Llama Guard 4 (moderation), Whisper (STT), Orpheus TTS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F481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64008" cy="1508760"/>
          </a:xfrm>
          <a:prstGeom prst="rect">
            <a:avLst/>
          </a:prstGeom>
          <a:solidFill>
            <a:srgbClr val="F4813F"/>
          </a:solidFill>
          <a:ln w="12700">
            <a:solidFill>
              <a:srgbClr val="F48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Multimodal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models: GPT-5.4 (vision), GPT-Realtime 1.5 (audio), GPT Image 1.5, Sora 2 (video), GPT-4o Transcribe, GPT-4o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7180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OpenRouter: 3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($2.50/$15, 1.05M ctx) · Claude Sonnet 4.6 ($3/$15, 1M ctx) · Llama 4 Scout ($0.11/$0.34, 10M ctx)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114800" cy="1508760"/>
          </a:xfrm>
          <a:prstGeom prst="rect">
            <a:avLst/>
          </a:prstGeom>
          <a:solidFill>
            <a:srgbClr val="1E2D4E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71800"/>
            <a:ext cx="64008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token ≈ 4 chars · Code/symbols = more tokens · Non-English costs more · pricing is per token input+output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console.groq.com  ·  developers.openai.com  ·  openrouter.ai  ·  platform.openai.com/tokenizer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Multimodal Models &amp; Tokenizers</dc:title>
  <dc:subject>PptxGenJS Presentation</dc:subject>
  <dc:creator>PptxGenJS</dc:creator>
  <cp:lastModifiedBy>PptxGenJS</cp:lastModifiedBy>
  <cp:revision>1</cp:revision>
  <dcterms:created xsi:type="dcterms:W3CDTF">2026-04-03T11:42:39Z</dcterms:created>
  <dcterms:modified xsi:type="dcterms:W3CDTF">2026-04-03T11:42:39Z</dcterms:modified>
</cp:coreProperties>
</file>